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23444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4813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0848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Живе операційно-правове дзеркало підприємства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788920"/>
            <a:ext cx="4206240" cy="0"/>
          </a:xfrm>
          <a:prstGeom prst="line">
            <a:avLst/>
          </a:prstGeom>
          <a:noFill/>
          <a:ln w="27940">
            <a:solidFill>
              <a:srgbClr val="25C5C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3127248"/>
            <a:ext cx="6217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приватних і комунальних підприємств, які хочуть бачити процеси, витрати, ризики й можливості як цілісну систему</a:t>
            </a:r>
            <a:endParaRPr lang="en-US" sz="1400" dirty="0"/>
          </a:p>
        </p:txBody>
      </p:sp>
      <p:pic>
        <p:nvPicPr>
          <p:cNvPr id="9" name="Image 1" descr="/mnt/data/syntonia_mark_cropped.png">    </p:cNvPr>
          <p:cNvPicPr>
            <a:picLocks noChangeAspect="1"/>
          </p:cNvPicPr>
          <p:nvPr/>
        </p:nvPicPr>
        <p:blipFill>
          <a:blip r:embed="rId2">
            <a:alphaModFix amt="93000"/>
          </a:blip>
          <a:stretch>
            <a:fillRect/>
          </a:stretch>
        </p:blipFill>
        <p:spPr>
          <a:xfrm>
            <a:off x="7406640" y="1234440"/>
            <a:ext cx="3657600" cy="15727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32461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63524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Форум • Бакота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серпня 2026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ціна організаційної сліпоти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Підприємство може мати багато систем — і не бачити себе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Документи, люди, договори, витрати й строки живуть окремо.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85800" y="2432304"/>
            <a:ext cx="73152" cy="347472"/>
          </a:xfrm>
          <a:prstGeom prst="rect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0392" y="2359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Типові втрати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2834640"/>
            <a:ext cx="475488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строки згадують після порушення
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договори контролюються вручну
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рішення зависають між підрозділами
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витрати складно пов’язати з результатом
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ключове знання тримається на окремих людях
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юрист підключається вже після проблеми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00800" y="2880360"/>
            <a:ext cx="3749040" cy="0"/>
          </a:xfrm>
          <a:prstGeom prst="line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058400" y="2697480"/>
            <a:ext cx="384048" cy="384048"/>
          </a:xfrm>
          <a:prstGeom prst="ellipse">
            <a:avLst/>
          </a:prstGeom>
          <a:solidFill>
            <a:srgbClr val="342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89788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 виникла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601200" y="3246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керівник дізнався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12280" y="23317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Blindness Window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0" y="4206240"/>
            <a:ext cx="3017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 скорочує цей проміжок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це таке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 — це внутрішній метаконтроль підприємства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8229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співвідносить належний стан, фактичну діяльність і наступну відповідальну дію.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94360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04088" y="2551176"/>
            <a:ext cx="256032" cy="256032"/>
          </a:xfrm>
          <a:prstGeom prst="ellipse">
            <a:avLst/>
          </a:prstGeom>
          <a:solidFill>
            <a:srgbClr val="342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04088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22376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норма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і цілі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34768" y="299466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444496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554224" y="255117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554224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572512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фактичний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стан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84904" y="299466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294632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404360" y="255117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404360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422648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відхилення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35040" y="299466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144768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54496" y="255117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254496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272784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варіанти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дій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885176" y="299466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994904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04632" y="255117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8104632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8122920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людське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рішення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735312" y="299466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845040" y="2423160"/>
            <a:ext cx="1722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954768" y="255117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954768" y="2601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9973056" y="2926080"/>
            <a:ext cx="14660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журнал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результату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60120" y="425196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D6D7F8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234440" y="45262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замінює керівника, юриста чи фінансиста.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629400" y="425196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ECFEFF"/>
          </a:solidFill>
          <a:ln w="12700">
            <a:solidFill>
              <a:srgbClr val="BDEEE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903720" y="45262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Підсилює їхню здатність бачити й діяти вчасно.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 чого почати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все підприємство одразу — один дорогий процес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7680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Перший кейс має бути вузьким, вимірюваним і важливим для керівника.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77240" y="21488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0320">
            <a:solidFill>
              <a:srgbClr val="25C5C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41832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договори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 претензії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331720" y="2350008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строки · виконання · докази · вимоги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480560" y="21488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обґрунтованість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витрат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2350008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мета · підстава · альтернативи · результат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8183880" y="21488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348472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закупівлі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і підрядники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738360" y="2350008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процедура · договір · акти · оплата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77240" y="353872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41832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управлінські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рішення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2331720" y="3739896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 · доручення · відповідальний · контроль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480560" y="353872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645152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гранти та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інвестиції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035040" y="3739896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можливість · готовність · заявка · звітність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1280160" y="5303520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Рекомендований перший контур: договір → виконання → відхилення → претензія → юридична валідація.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приклад: договірний контур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 не лише показує проблему — він веде до реакції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7680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Критичні юридичні та фінансові рішення залишаються за людьми.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12648" y="2459736"/>
            <a:ext cx="256032" cy="256032"/>
          </a:xfrm>
          <a:prstGeom prst="ellipse">
            <a:avLst/>
          </a:prstGeom>
          <a:solidFill>
            <a:srgbClr val="342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12648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30936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потреба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005149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114877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224605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224605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242893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договір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3617105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726833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836561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836561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854849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виконання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5229062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338790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448518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448518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466806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відхилення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841018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950746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60474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060474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078762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проєкт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дії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8452975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8562703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8672431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672431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8690719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валідація</a:t>
            </a:r>
            <a:endParaRPr lang="en-US" sz="940" dirty="0"/>
          </a:p>
        </p:txBody>
      </p:sp>
      <p:sp>
        <p:nvSpPr>
          <p:cNvPr id="40" name="Shape 37"/>
          <p:cNvSpPr/>
          <p:nvPr/>
        </p:nvSpPr>
        <p:spPr>
          <a:xfrm>
            <a:off x="10064931" y="283464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10174659" y="2331720"/>
            <a:ext cx="1483941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10284387" y="245973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284387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10302675" y="2834640"/>
            <a:ext cx="1227909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940" dirty="0"/>
          </a:p>
        </p:txBody>
      </p:sp>
      <p:sp>
        <p:nvSpPr>
          <p:cNvPr id="45" name="Shape 42"/>
          <p:cNvSpPr/>
          <p:nvPr/>
        </p:nvSpPr>
        <p:spPr>
          <a:xfrm>
            <a:off x="960120" y="4251960"/>
            <a:ext cx="384048" cy="384048"/>
          </a:xfrm>
          <a:prstGeom prst="ellipse">
            <a:avLst/>
          </a:prstGeom>
          <a:solidFill>
            <a:srgbClr val="2EA5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1463040" y="4187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зелений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463040" y="4425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умови виконані</a:t>
            </a:r>
            <a:endParaRPr lang="en-US" sz="840" dirty="0"/>
          </a:p>
        </p:txBody>
      </p:sp>
      <p:sp>
        <p:nvSpPr>
          <p:cNvPr id="48" name="Shape 45"/>
          <p:cNvSpPr/>
          <p:nvPr/>
        </p:nvSpPr>
        <p:spPr>
          <a:xfrm>
            <a:off x="3703320" y="4251960"/>
            <a:ext cx="384048" cy="384048"/>
          </a:xfrm>
          <a:prstGeom prst="ellipse">
            <a:avLst/>
          </a:prstGeom>
          <a:solidFill>
            <a:srgbClr val="F3B8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206240" y="4187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жовтий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4206240" y="4425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потрібна увага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6446520" y="4251960"/>
            <a:ext cx="384048" cy="384048"/>
          </a:xfrm>
          <a:prstGeom prst="ellipse">
            <a:avLst/>
          </a:prstGeom>
          <a:solidFill>
            <a:srgbClr val="E31B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6949440" y="4187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червоний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6949440" y="4425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ризик/прострочення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9189720" y="4251960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9692640" y="4187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сірий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9692640" y="4425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даних недостатньо</a:t>
            </a:r>
            <a:endParaRPr lang="en-US" sz="840" dirty="0"/>
          </a:p>
        </p:txBody>
      </p:sp>
      <p:sp>
        <p:nvSpPr>
          <p:cNvPr id="57" name="Shape 54"/>
          <p:cNvSpPr/>
          <p:nvPr/>
        </p:nvSpPr>
        <p:spPr>
          <a:xfrm>
            <a:off x="2194560" y="5166360"/>
            <a:ext cx="7772400" cy="621792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12700">
            <a:solidFill>
              <a:srgbClr val="D6D7F8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468880" y="5358384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Кожний статус має джерело, власника, строк і наступну дію.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головні відмінності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Чим EXO відрізняється від AI-аудиту, чатбота або облікових систем (ERP)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8046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Унікальність — не в окремій функції, а в замкненому циклі керованості.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85800" y="2148840"/>
            <a:ext cx="3611880" cy="594360"/>
          </a:xfrm>
          <a:prstGeom prst="rect">
            <a:avLst/>
          </a:prstGeom>
          <a:solidFill>
            <a:srgbClr val="342B78"/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1520" y="2221992"/>
            <a:ext cx="3520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Рішення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0" y="2148840"/>
            <a:ext cx="3611880" cy="594360"/>
          </a:xfrm>
          <a:prstGeom prst="rect">
            <a:avLst/>
          </a:prstGeom>
          <a:solidFill>
            <a:srgbClr val="342B78"/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43400" y="2221992"/>
            <a:ext cx="3520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робить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09560" y="2148840"/>
            <a:ext cx="3611880" cy="594360"/>
          </a:xfrm>
          <a:prstGeom prst="rect">
            <a:avLst/>
          </a:prstGeom>
          <a:solidFill>
            <a:srgbClr val="342B78"/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955280" y="2221992"/>
            <a:ext cx="3520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Що часто не закриває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274320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58952" y="279806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AI-аудит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4297680" y="274320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70832" y="279806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знаходить вузькі місця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7909560" y="274320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982712" y="279806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залишається всередині процесу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685800" y="333756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58952" y="339242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чатбот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4297680" y="333756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370832" y="339242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відповідає на запити</a:t>
            </a:r>
            <a:endParaRPr lang="en-US" sz="830" dirty="0"/>
          </a:p>
        </p:txBody>
      </p:sp>
      <p:sp>
        <p:nvSpPr>
          <p:cNvPr id="27" name="Shape 24"/>
          <p:cNvSpPr/>
          <p:nvPr/>
        </p:nvSpPr>
        <p:spPr>
          <a:xfrm>
            <a:off x="7909560" y="333756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982712" y="339242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контролює стан, строки і відповідальність</a:t>
            </a:r>
            <a:endParaRPr lang="en-US" sz="830" dirty="0"/>
          </a:p>
        </p:txBody>
      </p:sp>
      <p:sp>
        <p:nvSpPr>
          <p:cNvPr id="29" name="Shape 26"/>
          <p:cNvSpPr/>
          <p:nvPr/>
        </p:nvSpPr>
        <p:spPr>
          <a:xfrm>
            <a:off x="685800" y="393192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8952" y="398678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облікові системи (ERP) / СЕД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4297680" y="393192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370832" y="398678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веде операції або документи</a:t>
            </a:r>
            <a:endParaRPr lang="en-US" sz="830" dirty="0"/>
          </a:p>
        </p:txBody>
      </p:sp>
      <p:sp>
        <p:nvSpPr>
          <p:cNvPr id="33" name="Shape 30"/>
          <p:cNvSpPr/>
          <p:nvPr/>
        </p:nvSpPr>
        <p:spPr>
          <a:xfrm>
            <a:off x="7909560" y="3931920"/>
            <a:ext cx="3611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982712" y="398678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бачить повний правовий контур</a:t>
            </a:r>
            <a:endParaRPr lang="en-US" sz="830" dirty="0"/>
          </a:p>
        </p:txBody>
      </p:sp>
      <p:sp>
        <p:nvSpPr>
          <p:cNvPr id="35" name="Shape 32"/>
          <p:cNvSpPr/>
          <p:nvPr/>
        </p:nvSpPr>
        <p:spPr>
          <a:xfrm>
            <a:off x="685800" y="452628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58952" y="458114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</a:t>
            </a:r>
            <a:endParaRPr lang="en-US" sz="830" dirty="0"/>
          </a:p>
        </p:txBody>
      </p:sp>
      <p:sp>
        <p:nvSpPr>
          <p:cNvPr id="37" name="Shape 34"/>
          <p:cNvSpPr/>
          <p:nvPr/>
        </p:nvSpPr>
        <p:spPr>
          <a:xfrm>
            <a:off x="4297680" y="452628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370832" y="458114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спостерігає, пояснює, веде до дії</a:t>
            </a:r>
            <a:endParaRPr lang="en-US" sz="830" dirty="0"/>
          </a:p>
        </p:txBody>
      </p:sp>
      <p:sp>
        <p:nvSpPr>
          <p:cNvPr id="39" name="Shape 36"/>
          <p:cNvSpPr/>
          <p:nvPr/>
        </p:nvSpPr>
        <p:spPr>
          <a:xfrm>
            <a:off x="7909560" y="4526280"/>
            <a:ext cx="361188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982712" y="4581144"/>
            <a:ext cx="34655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вимагає людської валідації критичних рішень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1143000" y="55321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Формула EXO: джерела → висновок → людина → дія → доказ результату.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паспорт технічної життєздатності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Продукт має сам показувати, чи він здоровий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8046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 проєктується як цифровий прилад: складний усередині, простий в експлуатації.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41832" y="250545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2588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сенсори життя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5880" y="26883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служби, черги, моделі, інтеграції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434840" y="22860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99432" y="250545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98348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сенсори даних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26883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цілісність бази, індекси, версії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092440" y="22860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257032" y="250545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4108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сенсори 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41080" y="26883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джерела, впевненість, передача людині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77240" y="36118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41832" y="38313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25880" y="3758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самовідновлення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25880" y="40142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retry, restart, fallback, safe mode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4434840" y="361188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599432" y="38313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983480" y="3758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безпечні оновлення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40142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підпис, тест, rollback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2240280" y="507492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2700">
            <a:solidFill>
              <a:srgbClr val="BDEE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14600" y="52578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Мета: 95–99% типових експлуатаційних проблем діагностуються або відновлюються без сисадміна.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як вимірювати ефект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Цінність EXO має бути вимірюваною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Кожний пілот починається з базової лінії “до” і завершується порівнянням “після”.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CCIR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74520" y="2386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Cycle Integrity Rate: частка критичних циклів, завершених із документами, строками й доказами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315468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68680" y="3611880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61288" y="356616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 пошуку документів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3611880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81928" y="356616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кількість прострочень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" y="4178808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61288" y="4133088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частка справ із відповідальним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9320" y="4178808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281928" y="4133088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повнота доказового пакета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8680" y="4745736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61288" y="4700016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 від проблеми до рішення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89320" y="4745736"/>
            <a:ext cx="146304" cy="146304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81928" y="4700016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сума попереджених втрат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568756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 продає не “AI-функції”, а скорочення відстані між проблемою та відповідальною дією.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пропозиція для підприємств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Запрошуємо до першого EXO-кейсу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8229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 шукаємо 1–2 підприємства, готові надати один реальний процес для спільного проєктування.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77240" y="2221992"/>
            <a:ext cx="73152" cy="347472"/>
          </a:xfrm>
          <a:prstGeom prst="rect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41832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Підприємство надає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651760"/>
            <a:ext cx="45720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процес із болем або втратами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предметного представника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тестовий або знеособлений пакет документів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базові показники “до”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валідацію результатів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63640" y="2221992"/>
            <a:ext cx="73152" cy="347472"/>
          </a:xfrm>
          <a:prstGeom prst="rect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28232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формує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651760"/>
            <a:ext cx="45720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живу карту процесу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контрольні вузли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AI-пропозиції з джерелами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пакет для юридичної валідації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вимірювання ефекту й план впровадження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2377440" y="5349240"/>
            <a:ext cx="7406640" cy="457200"/>
          </a:xfrm>
          <a:prstGeom prst="roundRect">
            <a:avLst>
              <a:gd name="adj" fmla="val 16000"/>
            </a:avLst>
          </a:prstGeom>
          <a:solidFill>
            <a:srgbClr val="342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606040" y="5477256"/>
            <a:ext cx="6949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Перший фокус: договори, витрати, закупівлі, претензії або управлінські рішення.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2B78"/>
          </a:solidFill>
          <a:ln w="12700">
            <a:solidFill>
              <a:srgbClr val="342B7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syntonia_mar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05156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58521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наступний крок</a:t>
            </a:r>
            <a:endParaRPr lang="en-US" sz="68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SYNTONIA EXO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Запропонуйте процес, який варто побачити “зсередини”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7863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Скануйте QR або напишіть нам, де підприємство втрачає час, гроші або контроль.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2331720"/>
            <a:ext cx="141549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41248" y="2459736"/>
            <a:ext cx="256032" cy="256032"/>
          </a:xfrm>
          <a:prstGeom prst="ellipse">
            <a:avLst/>
          </a:prstGeom>
          <a:solidFill>
            <a:srgbClr val="342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41248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859536" y="2834640"/>
            <a:ext cx="1159459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описати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процес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65299" y="285750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275027" y="2331720"/>
            <a:ext cx="141549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384755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384755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403043" y="2834640"/>
            <a:ext cx="1159459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документи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08806" y="285750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818534" y="2331720"/>
            <a:ext cx="141549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928262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928262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946550" y="2834640"/>
            <a:ext cx="1159459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побачити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дзеркало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52314" y="285750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362042" y="2331720"/>
            <a:ext cx="141549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471770" y="2459736"/>
            <a:ext cx="256032" cy="256032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471770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490058" y="2834640"/>
            <a:ext cx="1159459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перевірити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відхилення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95821" y="2857500"/>
            <a:ext cx="91440" cy="0"/>
          </a:xfrm>
          <a:prstGeom prst="line">
            <a:avLst/>
          </a:prstGeom>
          <a:noFill/>
          <a:ln w="17780">
            <a:solidFill>
              <a:srgbClr val="342B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905549" y="2331720"/>
            <a:ext cx="141549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342B7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15277" y="2459736"/>
            <a:ext cx="256032" cy="256032"/>
          </a:xfrm>
          <a:prstGeom prst="ellipse">
            <a:avLst/>
          </a:prstGeom>
          <a:solidFill>
            <a:srgbClr val="25C5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015277" y="25100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033565" y="2834640"/>
            <a:ext cx="1159459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оцінити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ефект</a:t>
            </a:r>
            <a:endParaRPr lang="en-US" sz="900" dirty="0"/>
          </a:p>
        </p:txBody>
      </p:sp>
      <p:pic>
        <p:nvPicPr>
          <p:cNvPr id="35" name="Image 1" descr="/mnt/data/forum_request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783080"/>
            <a:ext cx="1417320" cy="1417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4108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QR: заявка на EXO-кейс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822960" y="4343400"/>
            <a:ext cx="10469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1097280" y="4617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Наталія Целовальніченко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1097280" y="4919472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адвокатка, кандидатка юридичних наук · авторка ЮСУ · керівниця розроблення людино-АІ систем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8046720" y="4608576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lpg.human.rights@gmail.com</a:t>
            </a:r>
            <a:endParaRPr lang="en-US" sz="1150" dirty="0"/>
          </a:p>
          <a:p>
            <a:pPr algn="r"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+38 (095) 418-80-50</a:t>
            </a:r>
            <a:endParaRPr lang="en-US" sz="1150" dirty="0"/>
          </a:p>
          <a:p>
            <a:pPr algn="r" indent="0" marL="0">
              <a:buNone/>
            </a:pPr>
            <a:r>
              <a:rPr lang="en-US" sz="1150" b="1" dirty="0">
                <a:solidFill>
                  <a:srgbClr val="342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tselovalnichenko.law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Юридичні Сили України / SYNTONIA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SYNTONIA EXO — форумна презентація</dc:title>
  <dc:subject>Forum 2026</dc:subject>
  <dc:creator>Наталія Целовальніченко / SYNTONIA</dc:creator>
  <cp:lastModifiedBy>Наталія Целовальніченко / SYNTONIA</cp:lastModifiedBy>
  <cp:revision>1</cp:revision>
  <dcterms:created xsi:type="dcterms:W3CDTF">2026-08-03T22:21:25Z</dcterms:created>
  <dcterms:modified xsi:type="dcterms:W3CDTF">2026-08-03T22:21:25Z</dcterms:modified>
</cp:coreProperties>
</file>